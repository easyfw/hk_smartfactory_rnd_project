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2" r:id="rId1"/>
  </p:sldMasterIdLst>
  <p:notesMasterIdLst>
    <p:notesMasterId r:id="rId11"/>
  </p:notesMasterIdLst>
  <p:sldIdLst>
    <p:sldId id="272" r:id="rId2"/>
    <p:sldId id="273" r:id="rId3"/>
    <p:sldId id="280" r:id="rId4"/>
    <p:sldId id="268" r:id="rId5"/>
    <p:sldId id="274" r:id="rId6"/>
    <p:sldId id="275" r:id="rId7"/>
    <p:sldId id="277" r:id="rId8"/>
    <p:sldId id="278" r:id="rId9"/>
    <p:sldId id="269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DEFD"/>
    <a:srgbClr val="A162D0"/>
    <a:srgbClr val="EDCCFC"/>
    <a:srgbClr val="CB92E2"/>
    <a:srgbClr val="6CE818"/>
    <a:srgbClr val="EDFEC2"/>
    <a:srgbClr val="A9F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10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4" d="100"/>
          <a:sy n="74" d="100"/>
        </p:scale>
        <p:origin x="338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4E8B0-70D4-4671-AC7C-D0D9D7413F39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20EBC-2A56-43E2-9C3D-DB088E4B60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34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921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412" y="117084"/>
            <a:ext cx="1833786" cy="416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313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92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460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068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9797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0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17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098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131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651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03075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882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7301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639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853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94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60A9B89-B893-4EAB-B4B7-A6CBBBBD2CB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4289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  <p:sldLayoutId id="2147483904" r:id="rId12"/>
    <p:sldLayoutId id="2147483905" r:id="rId13"/>
    <p:sldLayoutId id="2147483906" r:id="rId14"/>
    <p:sldLayoutId id="2147483907" r:id="rId15"/>
    <p:sldLayoutId id="2147483908" r:id="rId16"/>
    <p:sldLayoutId id="2147483909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8.sv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-6.svg"/><Relationship Id="rId5" Type="http://schemas.openxmlformats.org/officeDocument/2006/relationships/image" Target="../media/image-3-4.svg"/><Relationship Id="rId4" Type="http://schemas.openxmlformats.org/officeDocument/2006/relationships/image" Target="../media/image-3-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07517" y="1774568"/>
            <a:ext cx="84176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재단 </a:t>
            </a:r>
            <a:r>
              <a:rPr lang="ko-KR" altLang="en-US" sz="4000" b="1" dirty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공정 지능형 품질 검사 시스템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99915" y="2777433"/>
            <a:ext cx="35573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초고성능</a:t>
            </a:r>
            <a:r>
              <a:rPr lang="en-US" altLang="ko-KR" sz="20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Edge AI </a:t>
            </a:r>
            <a:r>
              <a:rPr lang="ko-KR" altLang="en-US" sz="20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기반 </a:t>
            </a:r>
            <a:r>
              <a:rPr lang="en-US" altLang="ko-KR" sz="20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DX </a:t>
            </a:r>
            <a:r>
              <a:rPr lang="ko-KR" altLang="en-US" sz="20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혁신</a:t>
            </a:r>
            <a:endParaRPr lang="ko-KR" altLang="en-US" sz="2000" b="1" dirty="0">
              <a:solidFill>
                <a:schemeClr val="accent2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82714" y="6119610"/>
            <a:ext cx="38475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2026.02.06   </a:t>
            </a:r>
            <a:r>
              <a:rPr lang="ko-KR" altLang="en-US" sz="20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㈜형경 산업</a:t>
            </a:r>
            <a:r>
              <a:rPr lang="en-US" altLang="ko-KR" sz="20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 </a:t>
            </a:r>
            <a:r>
              <a:rPr lang="ko-KR" altLang="en-US" sz="20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이주철</a:t>
            </a:r>
            <a:r>
              <a:rPr lang="en-US" altLang="ko-KR" sz="20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</a:t>
            </a:r>
            <a:endParaRPr lang="ko-KR" altLang="en-US" sz="2000" b="1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245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1956015" y="1826396"/>
            <a:ext cx="6159285" cy="3995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1. </a:t>
            </a:r>
            <a:r>
              <a:rPr lang="ko-KR" altLang="en-US" sz="2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프로젝트</a:t>
            </a:r>
            <a:endParaRPr lang="en-US" altLang="ko-KR" sz="2400" b="1" dirty="0" smtClean="0">
              <a:solidFill>
                <a:schemeClr val="accent4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sz="2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2. </a:t>
            </a:r>
            <a:r>
              <a:rPr lang="ko-KR" altLang="en-US" sz="2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추진 필요성</a:t>
            </a:r>
            <a:r>
              <a:rPr lang="en-US" altLang="ko-KR" sz="2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</a:t>
            </a:r>
            <a:endParaRPr lang="en-US" altLang="ko-KR" sz="2400" b="1" dirty="0" smtClean="0">
              <a:solidFill>
                <a:schemeClr val="accent4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sz="2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3. </a:t>
            </a:r>
            <a:r>
              <a:rPr lang="ko-KR" altLang="en-US" sz="2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핵심 목표</a:t>
            </a:r>
            <a:endParaRPr lang="en-US" altLang="ko-KR" sz="2400" b="1" dirty="0" smtClean="0">
              <a:solidFill>
                <a:schemeClr val="accent4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sz="2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4</a:t>
            </a:r>
            <a:r>
              <a:rPr lang="en-US" altLang="ko-KR" sz="2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. </a:t>
            </a:r>
            <a:r>
              <a:rPr lang="ko-KR" altLang="en-US" sz="2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하드웨어 구성 </a:t>
            </a:r>
            <a:r>
              <a:rPr lang="en-US" altLang="ko-KR" sz="2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(</a:t>
            </a:r>
            <a:r>
              <a:rPr lang="ko-KR" altLang="en-US" sz="2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최첨단 </a:t>
            </a:r>
            <a:r>
              <a:rPr lang="en-US" altLang="ko-KR" sz="2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Edge AI </a:t>
            </a:r>
            <a:r>
              <a:rPr lang="ko-KR" altLang="en-US" sz="2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시스템</a:t>
            </a:r>
            <a:r>
              <a:rPr lang="en-US" altLang="ko-KR" sz="2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)</a:t>
            </a:r>
            <a:endParaRPr lang="en-US" altLang="ko-KR" sz="2400" b="1" dirty="0" smtClean="0">
              <a:solidFill>
                <a:schemeClr val="accent4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sz="2400" b="1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5</a:t>
            </a:r>
            <a:r>
              <a:rPr lang="en-US" altLang="ko-KR" sz="2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. </a:t>
            </a:r>
            <a:r>
              <a:rPr lang="ko-KR" altLang="en-US" sz="2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소프트웨어 </a:t>
            </a:r>
            <a:r>
              <a:rPr lang="en-US" altLang="ko-KR" sz="2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&amp; </a:t>
            </a:r>
            <a:r>
              <a:rPr lang="ko-KR" altLang="en-US" sz="2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알고리즘</a:t>
            </a:r>
            <a:endParaRPr lang="en-US" altLang="ko-KR" sz="2400" b="1" dirty="0" smtClean="0">
              <a:solidFill>
                <a:schemeClr val="accent4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sz="2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6. </a:t>
            </a:r>
            <a:r>
              <a:rPr lang="ko-KR" altLang="en-US" sz="2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개발 로드맵 </a:t>
            </a:r>
            <a:endParaRPr lang="en-US" altLang="ko-KR" sz="2400" b="1" dirty="0" smtClean="0">
              <a:solidFill>
                <a:schemeClr val="accent4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12666" y="982522"/>
            <a:ext cx="17299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- </a:t>
            </a:r>
            <a:r>
              <a:rPr lang="ko-KR" altLang="en-US" sz="40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목차 </a:t>
            </a:r>
            <a:r>
              <a:rPr lang="en-US" altLang="ko-KR" sz="40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-</a:t>
            </a:r>
            <a:endParaRPr lang="ko-KR" altLang="en-US" sz="4000" b="1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1432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01539" y="748041"/>
            <a:ext cx="9527641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1. 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프로젝트 </a:t>
            </a:r>
            <a:endParaRPr lang="en-US" altLang="ko-KR" sz="2800" b="1" dirty="0" smtClean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endParaRPr lang="en-US" altLang="ko-KR" sz="2800" b="1" dirty="0" smtClean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endParaRPr lang="en-US" altLang="ko-KR" sz="2800" b="1" dirty="0" smtClean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r>
              <a:rPr lang="en-US" altLang="ko-KR" sz="20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1) </a:t>
            </a:r>
            <a:r>
              <a:rPr lang="ko-KR" altLang="en-US" sz="20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과제명</a:t>
            </a:r>
            <a:r>
              <a:rPr lang="en-US" altLang="ko-KR" sz="20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</a:t>
            </a:r>
          </a:p>
          <a:p>
            <a:endParaRPr lang="en-US" altLang="ko-KR" sz="2000" b="1" dirty="0" smtClean="0">
              <a:solidFill>
                <a:schemeClr val="accent4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초고성능 </a:t>
            </a:r>
            <a:r>
              <a:rPr lang="en-US" altLang="ko-KR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Edge AI(Jetson Orin NX) </a:t>
            </a:r>
            <a:r>
              <a:rPr lang="ko-KR" altLang="en-US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기반 재단 공정 </a:t>
            </a:r>
            <a:endParaRPr lang="en-US" altLang="ko-KR" dirty="0" smtClean="0">
              <a:solidFill>
                <a:schemeClr val="accent4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r>
              <a:rPr lang="ko-KR" altLang="en-US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    지능형 품질 검사 시스템 구축</a:t>
            </a:r>
            <a:endParaRPr lang="en-US" altLang="ko-KR" dirty="0" smtClean="0">
              <a:solidFill>
                <a:schemeClr val="accent4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endParaRPr lang="en-US" altLang="ko-KR" dirty="0" smtClean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endParaRPr lang="en-US" altLang="ko-KR" dirty="0" smtClean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endParaRPr lang="en-US" altLang="ko-KR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endParaRPr lang="en-US" altLang="ko-KR" dirty="0" smtClean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r>
              <a:rPr lang="en-US" altLang="ko-KR" sz="20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2) </a:t>
            </a:r>
            <a:r>
              <a:rPr lang="ko-KR" altLang="en-US" sz="20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추진 배경</a:t>
            </a:r>
            <a:r>
              <a:rPr lang="en-US" altLang="ko-KR" sz="20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</a:t>
            </a:r>
          </a:p>
          <a:p>
            <a:endParaRPr lang="en-US" altLang="ko-KR" sz="2000" b="1" dirty="0">
              <a:solidFill>
                <a:schemeClr val="accent4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SCM-Gabbiani A3 </a:t>
            </a:r>
            <a:r>
              <a:rPr lang="ko-KR" altLang="en-US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재단기 가공 후 발생하는 치수 오차</a:t>
            </a: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, </a:t>
            </a:r>
            <a:endParaRPr lang="en-US" altLang="ko-KR" dirty="0" smtClean="0">
              <a:solidFill>
                <a:schemeClr val="accent4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r>
              <a:rPr lang="en-US" altLang="ko-KR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</a:t>
            </a:r>
            <a:r>
              <a:rPr lang="en-US" altLang="ko-KR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   </a:t>
            </a:r>
            <a:r>
              <a:rPr lang="ko-KR" altLang="en-US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표면 </a:t>
            </a:r>
            <a:r>
              <a:rPr lang="ko-KR" altLang="en-US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기스</a:t>
            </a: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, </a:t>
            </a:r>
            <a:r>
              <a:rPr lang="ko-KR" altLang="en-US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접착 불량 등에 대한 </a:t>
            </a:r>
            <a:r>
              <a:rPr lang="ko-KR" altLang="en-US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육안 </a:t>
            </a:r>
            <a:r>
              <a:rPr lang="ko-KR" altLang="en-US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검사의 한계 극복</a:t>
            </a:r>
          </a:p>
          <a:p>
            <a:endParaRPr lang="en-US" altLang="ko-KR" dirty="0" smtClean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4068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01539" y="748041"/>
            <a:ext cx="952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2</a:t>
            </a:r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. 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추진 필요성 </a:t>
            </a:r>
            <a:endParaRPr lang="en-US" altLang="ko-KR" sz="2800" b="1" dirty="0" smtClean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grpSp>
        <p:nvGrpSpPr>
          <p:cNvPr id="56" name="그룹 55"/>
          <p:cNvGrpSpPr/>
          <p:nvPr/>
        </p:nvGrpSpPr>
        <p:grpSpPr>
          <a:xfrm>
            <a:off x="790575" y="1673781"/>
            <a:ext cx="10610849" cy="3975616"/>
            <a:chOff x="738843" y="1911906"/>
            <a:chExt cx="10610849" cy="3975616"/>
          </a:xfrm>
        </p:grpSpPr>
        <p:grpSp>
          <p:nvGrpSpPr>
            <p:cNvPr id="31" name="그룹 30"/>
            <p:cNvGrpSpPr/>
            <p:nvPr/>
          </p:nvGrpSpPr>
          <p:grpSpPr>
            <a:xfrm>
              <a:off x="738843" y="1911906"/>
              <a:ext cx="10610849" cy="3975616"/>
              <a:chOff x="793790" y="2368391"/>
              <a:chExt cx="13042821" cy="4655225"/>
            </a:xfrm>
          </p:grpSpPr>
          <p:sp>
            <p:nvSpPr>
              <p:cNvPr id="32" name="Shape 1"/>
              <p:cNvSpPr/>
              <p:nvPr/>
            </p:nvSpPr>
            <p:spPr>
              <a:xfrm>
                <a:off x="793790" y="2368391"/>
                <a:ext cx="6407944" cy="2214205"/>
              </a:xfrm>
              <a:prstGeom prst="roundRect">
                <a:avLst>
                  <a:gd name="adj" fmla="val 1537"/>
                </a:avLst>
              </a:prstGeom>
              <a:solidFill>
                <a:srgbClr val="F3EEE3"/>
              </a:solidFill>
              <a:ln/>
            </p:spPr>
          </p:sp>
          <p:sp>
            <p:nvSpPr>
              <p:cNvPr id="33" name="Shape 2"/>
              <p:cNvSpPr/>
              <p:nvPr/>
            </p:nvSpPr>
            <p:spPr>
              <a:xfrm>
                <a:off x="1020604" y="2595205"/>
                <a:ext cx="680442" cy="680442"/>
              </a:xfrm>
              <a:prstGeom prst="roundRect">
                <a:avLst>
                  <a:gd name="adj" fmla="val 13436980"/>
                </a:avLst>
              </a:prstGeom>
              <a:solidFill>
                <a:srgbClr val="325F7B"/>
              </a:solidFill>
              <a:ln/>
            </p:spPr>
          </p:sp>
          <p:pic>
            <p:nvPicPr>
              <p:cNvPr id="34" name="Image 0" descr="preencoded.png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p:blipFill>
            <p:spPr>
              <a:xfrm>
                <a:off x="1207770" y="2782253"/>
                <a:ext cx="306110" cy="306110"/>
              </a:xfrm>
              <a:prstGeom prst="rect">
                <a:avLst/>
              </a:prstGeom>
            </p:spPr>
          </p:pic>
          <p:sp>
            <p:nvSpPr>
              <p:cNvPr id="37" name="Shape 5"/>
              <p:cNvSpPr/>
              <p:nvPr/>
            </p:nvSpPr>
            <p:spPr>
              <a:xfrm>
                <a:off x="7428548" y="2368391"/>
                <a:ext cx="6408063" cy="2214205"/>
              </a:xfrm>
              <a:prstGeom prst="roundRect">
                <a:avLst>
                  <a:gd name="adj" fmla="val 1537"/>
                </a:avLst>
              </a:prstGeom>
              <a:solidFill>
                <a:srgbClr val="F3EEE3"/>
              </a:solidFill>
              <a:ln/>
            </p:spPr>
          </p:sp>
          <p:sp>
            <p:nvSpPr>
              <p:cNvPr id="38" name="Shape 6"/>
              <p:cNvSpPr/>
              <p:nvPr/>
            </p:nvSpPr>
            <p:spPr>
              <a:xfrm>
                <a:off x="7655362" y="2595205"/>
                <a:ext cx="680442" cy="680442"/>
              </a:xfrm>
              <a:prstGeom prst="roundRect">
                <a:avLst>
                  <a:gd name="adj" fmla="val 13436980"/>
                </a:avLst>
              </a:prstGeom>
              <a:solidFill>
                <a:srgbClr val="325F7B"/>
              </a:solidFill>
              <a:ln/>
            </p:spPr>
          </p:sp>
          <p:pic>
            <p:nvPicPr>
              <p:cNvPr id="39" name="Image 1" descr="preencoded.png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p:blipFill>
            <p:spPr>
              <a:xfrm>
                <a:off x="7842528" y="2782253"/>
                <a:ext cx="306110" cy="306110"/>
              </a:xfrm>
              <a:prstGeom prst="rect">
                <a:avLst/>
              </a:prstGeom>
            </p:spPr>
          </p:pic>
          <p:sp>
            <p:nvSpPr>
              <p:cNvPr id="42" name="Shape 9"/>
              <p:cNvSpPr/>
              <p:nvPr/>
            </p:nvSpPr>
            <p:spPr>
              <a:xfrm>
                <a:off x="793790" y="4809411"/>
                <a:ext cx="6407944" cy="2214205"/>
              </a:xfrm>
              <a:prstGeom prst="roundRect">
                <a:avLst>
                  <a:gd name="adj" fmla="val 1537"/>
                </a:avLst>
              </a:prstGeom>
              <a:solidFill>
                <a:srgbClr val="F3EEE3"/>
              </a:solidFill>
              <a:ln/>
            </p:spPr>
          </p:sp>
          <p:sp>
            <p:nvSpPr>
              <p:cNvPr id="43" name="Shape 10"/>
              <p:cNvSpPr/>
              <p:nvPr/>
            </p:nvSpPr>
            <p:spPr>
              <a:xfrm>
                <a:off x="1020604" y="5036225"/>
                <a:ext cx="680442" cy="680442"/>
              </a:xfrm>
              <a:prstGeom prst="roundRect">
                <a:avLst>
                  <a:gd name="adj" fmla="val 13436980"/>
                </a:avLst>
              </a:prstGeom>
              <a:solidFill>
                <a:srgbClr val="325F7B"/>
              </a:solidFill>
              <a:ln/>
            </p:spPr>
          </p:sp>
          <p:pic>
            <p:nvPicPr>
              <p:cNvPr id="44" name="Image 2" descr="preencoded.png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p:blipFill>
            <p:spPr>
              <a:xfrm>
                <a:off x="1207770" y="5223272"/>
                <a:ext cx="306110" cy="306110"/>
              </a:xfrm>
              <a:prstGeom prst="rect">
                <a:avLst/>
              </a:prstGeom>
            </p:spPr>
          </p:pic>
          <p:sp>
            <p:nvSpPr>
              <p:cNvPr id="47" name="Shape 13"/>
              <p:cNvSpPr/>
              <p:nvPr/>
            </p:nvSpPr>
            <p:spPr>
              <a:xfrm>
                <a:off x="7428548" y="4809411"/>
                <a:ext cx="6408063" cy="2214205"/>
              </a:xfrm>
              <a:prstGeom prst="roundRect">
                <a:avLst>
                  <a:gd name="adj" fmla="val 1537"/>
                </a:avLst>
              </a:prstGeom>
              <a:solidFill>
                <a:srgbClr val="F3EEE3"/>
              </a:solidFill>
              <a:ln/>
            </p:spPr>
          </p:sp>
          <p:sp>
            <p:nvSpPr>
              <p:cNvPr id="48" name="Shape 14"/>
              <p:cNvSpPr/>
              <p:nvPr/>
            </p:nvSpPr>
            <p:spPr>
              <a:xfrm>
                <a:off x="7655362" y="5036225"/>
                <a:ext cx="680442" cy="680442"/>
              </a:xfrm>
              <a:prstGeom prst="roundRect">
                <a:avLst>
                  <a:gd name="adj" fmla="val 13436980"/>
                </a:avLst>
              </a:prstGeom>
              <a:solidFill>
                <a:srgbClr val="325F7B"/>
              </a:solidFill>
              <a:ln/>
            </p:spPr>
          </p:sp>
          <p:pic>
            <p:nvPicPr>
              <p:cNvPr id="49" name="Image 3" descr="preencoded.png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xmlns="" r:embed="rId8"/>
                  </a:ext>
                </a:extLst>
              </a:blip>
              <a:stretch>
                <a:fillRect/>
              </a:stretch>
            </p:blipFill>
            <p:spPr>
              <a:xfrm>
                <a:off x="7842528" y="5223272"/>
                <a:ext cx="306110" cy="306110"/>
              </a:xfrm>
              <a:prstGeom prst="rect">
                <a:avLst/>
              </a:prstGeom>
            </p:spPr>
          </p:pic>
        </p:grpSp>
        <p:sp>
          <p:nvSpPr>
            <p:cNvPr id="52" name="직사각형 51"/>
            <p:cNvSpPr/>
            <p:nvPr/>
          </p:nvSpPr>
          <p:spPr>
            <a:xfrm>
              <a:off x="1025133" y="2755776"/>
              <a:ext cx="4691804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ko-KR" altLang="en-US" sz="2400" b="1" dirty="0">
                  <a:solidFill>
                    <a:srgbClr val="002060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육안 검사의 한계</a:t>
              </a:r>
            </a:p>
            <a:p>
              <a:r>
                <a:rPr lang="en-US" altLang="ko-KR" dirty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: </a:t>
              </a:r>
              <a:r>
                <a:rPr lang="ko-KR" altLang="en-US" dirty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작업자 피로도 및 주관성으로 인한 일관성 부족</a:t>
              </a:r>
              <a:endParaRPr lang="en-US" altLang="ko-KR" dirty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6400173" y="2720687"/>
              <a:ext cx="4860247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ko-KR" altLang="en-US" sz="2400" b="1" dirty="0">
                  <a:solidFill>
                    <a:srgbClr val="002060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불량 유출 위험</a:t>
              </a:r>
            </a:p>
            <a:p>
              <a:r>
                <a:rPr lang="en-US" altLang="ko-KR" dirty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: </a:t>
              </a:r>
              <a:r>
                <a:rPr lang="ko-KR" altLang="en-US" dirty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치수 오차</a:t>
              </a:r>
              <a:r>
                <a:rPr lang="en-US" altLang="ko-KR" dirty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, </a:t>
              </a:r>
              <a:r>
                <a:rPr lang="ko-KR" altLang="en-US" dirty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표면 기스</a:t>
              </a:r>
              <a:r>
                <a:rPr lang="en-US" altLang="ko-KR" dirty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, </a:t>
              </a:r>
              <a:r>
                <a:rPr lang="ko-KR" altLang="en-US" dirty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접착 불량 등 다양한 결함 </a:t>
              </a:r>
              <a:endParaRPr lang="en-US" altLang="ko-KR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endParaRPr>
            </a:p>
            <a:p>
              <a:r>
                <a:rPr lang="en-US" altLang="ko-KR" dirty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 </a:t>
              </a:r>
              <a:r>
                <a:rPr lang="en-US" altLang="ko-KR" dirty="0" smtClean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 </a:t>
              </a:r>
              <a:r>
                <a:rPr lang="ko-KR" altLang="en-US" dirty="0" smtClean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탐지의 </a:t>
              </a:r>
              <a:r>
                <a:rPr lang="ko-KR" altLang="en-US" dirty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어려움</a:t>
              </a:r>
              <a:endParaRPr lang="en-US" altLang="ko-KR" dirty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1020589" y="4795659"/>
              <a:ext cx="4618211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ko-KR" altLang="en-US" sz="2400" b="1" dirty="0">
                  <a:solidFill>
                    <a:srgbClr val="002060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 공정 지연</a:t>
              </a:r>
            </a:p>
            <a:p>
              <a:r>
                <a:rPr lang="en-US" altLang="ko-KR" dirty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: </a:t>
              </a:r>
              <a:r>
                <a:rPr lang="ko-KR" altLang="en-US" dirty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수동 검사로 인한 공정 사이클 시간 증가 및 </a:t>
              </a:r>
              <a:endParaRPr lang="en-US" altLang="ko-KR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endParaRPr>
            </a:p>
            <a:p>
              <a:r>
                <a:rPr lang="en-US" altLang="ko-KR" dirty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 </a:t>
              </a:r>
              <a:r>
                <a:rPr lang="en-US" altLang="ko-KR" dirty="0" smtClean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 </a:t>
              </a:r>
              <a:r>
                <a:rPr lang="ko-KR" altLang="en-US" dirty="0" smtClean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생산성 </a:t>
              </a:r>
              <a:r>
                <a:rPr lang="ko-KR" altLang="en-US" dirty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저하</a:t>
              </a:r>
              <a:endParaRPr lang="ko-KR" altLang="en-US" dirty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6400173" y="4857040"/>
              <a:ext cx="4477377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ko-KR" altLang="en-US" sz="2400" b="1" dirty="0">
                  <a:solidFill>
                    <a:srgbClr val="002060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디지털 전환</a:t>
              </a:r>
            </a:p>
            <a:p>
              <a:r>
                <a:rPr lang="en-US" altLang="ko-KR" dirty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: </a:t>
              </a:r>
              <a:r>
                <a:rPr lang="ko-KR" altLang="en-US" dirty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제조 데이터 기반 스마트 팩토리 구현 필요</a:t>
              </a:r>
              <a:endParaRPr lang="ko-KR" altLang="en-US" dirty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963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01539" y="748041"/>
            <a:ext cx="952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3</a:t>
            </a:r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. 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핵심 목표 </a:t>
            </a:r>
            <a:endParaRPr lang="en-US" altLang="ko-KR" sz="2800" b="1" dirty="0" smtClean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115" y="1854994"/>
            <a:ext cx="1134070" cy="1360884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2468999" y="21103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Font typeface="Wingdings" panose="05000000000000000000" pitchFamily="2" charset="2"/>
              <a:buChar char="l"/>
            </a:pPr>
            <a:r>
              <a:rPr lang="en-US" sz="2200" dirty="0">
                <a:solidFill>
                  <a:srgbClr val="2B415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MuseoModerno Medium" pitchFamily="34" charset="-120"/>
              </a:rPr>
              <a:t>실시간 전수 검사</a:t>
            </a:r>
            <a:endParaRPr lang="en-US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8" name="Text 2"/>
          <p:cNvSpPr/>
          <p:nvPr/>
        </p:nvSpPr>
        <p:spPr>
          <a:xfrm>
            <a:off x="2735699" y="2473286"/>
            <a:ext cx="36746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: 100 </a:t>
            </a:r>
            <a:r>
              <a:rPr lang="en-US" sz="1750" dirty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TOPS급 AI 연산 성능 활용</a:t>
            </a:r>
            <a:endParaRPr lang="en-US" sz="1750" dirty="0">
              <a:solidFill>
                <a:schemeClr val="accent2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115" y="3215878"/>
            <a:ext cx="1134070" cy="1360884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2468999" y="34712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Font typeface="Wingdings" panose="05000000000000000000" pitchFamily="2" charset="2"/>
              <a:buChar char="l"/>
            </a:pPr>
            <a:r>
              <a:rPr lang="en-US" sz="2200" dirty="0">
                <a:solidFill>
                  <a:srgbClr val="2B415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MuseoModerno Medium" pitchFamily="34" charset="-120"/>
              </a:rPr>
              <a:t>판정 자동화</a:t>
            </a:r>
            <a:endParaRPr lang="en-US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1" name="Text 4"/>
          <p:cNvSpPr/>
          <p:nvPr/>
        </p:nvSpPr>
        <p:spPr>
          <a:xfrm>
            <a:off x="2468999" y="3866436"/>
            <a:ext cx="2950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     : 양품 </a:t>
            </a:r>
            <a:r>
              <a:rPr lang="en-US" sz="1750" dirty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판정 프로세스 자동화</a:t>
            </a:r>
            <a:endParaRPr lang="en-US" sz="1750" dirty="0">
              <a:solidFill>
                <a:schemeClr val="accent2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115" y="4576763"/>
            <a:ext cx="1134070" cy="136088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2468999" y="48226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Font typeface="Wingdings" panose="05000000000000000000" pitchFamily="2" charset="2"/>
              <a:buChar char="l"/>
            </a:pPr>
            <a:r>
              <a:rPr lang="en-US" sz="2200" dirty="0">
                <a:solidFill>
                  <a:srgbClr val="2B415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MuseoModerno Medium" pitchFamily="34" charset="-120"/>
              </a:rPr>
              <a:t>공정 최적화</a:t>
            </a:r>
            <a:endParaRPr lang="en-US" sz="2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4" name="Text 6"/>
          <p:cNvSpPr/>
          <p:nvPr/>
        </p:nvSpPr>
        <p:spPr>
          <a:xfrm>
            <a:off x="2526744" y="5176957"/>
            <a:ext cx="283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    : 지연 </a:t>
            </a:r>
            <a:r>
              <a:rPr lang="en-US" sz="1750" dirty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요소 30% 이상 제거</a:t>
            </a:r>
            <a:endParaRPr lang="en-US" sz="1750" dirty="0">
              <a:solidFill>
                <a:schemeClr val="accent2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3332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887947" y="690768"/>
            <a:ext cx="634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4. </a:t>
            </a:r>
            <a:r>
              <a:rPr lang="en-US" altLang="ko-KR" sz="2800" dirty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MuseoModerno Medium" pitchFamily="34" charset="-120"/>
              </a:rPr>
              <a:t>하드웨어 구성: 최첨단 </a:t>
            </a:r>
            <a:r>
              <a:rPr lang="en-US" altLang="ko-KR" sz="2800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MuseoModerno Medium" pitchFamily="34" charset="-120"/>
              </a:rPr>
              <a:t>Edge AI </a:t>
            </a:r>
            <a:r>
              <a:rPr lang="ko-KR" altLang="en-US" sz="2800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MuseoModerno Medium" pitchFamily="34" charset="-120"/>
              </a:rPr>
              <a:t>시스템</a:t>
            </a:r>
            <a:endParaRPr lang="en-US" altLang="ko-KR" sz="2800" b="1" dirty="0" smtClean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134183" y="2151831"/>
            <a:ext cx="6096000" cy="14260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altLang="ko-KR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100 </a:t>
            </a: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TOPS급 AI 연산 성능으로 고해상도 이미지 실시간 처리</a:t>
            </a:r>
            <a:endParaRPr lang="en-US" altLang="ko-KR" dirty="0">
              <a:solidFill>
                <a:schemeClr val="accent4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 marL="285750" indent="-28575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altLang="ko-KR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복합 </a:t>
            </a: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AI 모델 동시 구동 가능</a:t>
            </a:r>
            <a:endParaRPr lang="en-US" altLang="ko-KR" dirty="0">
              <a:solidFill>
                <a:schemeClr val="accent4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 marL="285750" indent="-28575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altLang="ko-KR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16GB </a:t>
            </a: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대용량 메모리로 정밀 계측 알고리즘 고속 처리</a:t>
            </a:r>
            <a:endParaRPr lang="en-US" altLang="ko-KR" dirty="0">
              <a:solidFill>
                <a:schemeClr val="accent4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 marL="285750" indent="-28575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altLang="ko-KR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산업용 </a:t>
            </a: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환경에서 안정적 작동 보장</a:t>
            </a:r>
            <a:endParaRPr lang="en-US" altLang="ko-KR" dirty="0">
              <a:solidFill>
                <a:schemeClr val="accent4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6" name="Text 1"/>
          <p:cNvSpPr/>
          <p:nvPr/>
        </p:nvSpPr>
        <p:spPr>
          <a:xfrm>
            <a:off x="982490" y="1703956"/>
            <a:ext cx="4558903" cy="40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dirty="0" smtClean="0">
                <a:solidFill>
                  <a:srgbClr val="124E73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MuseoModerno Medium" pitchFamily="34" charset="-120"/>
              </a:rPr>
              <a:t>1) NVIDIA </a:t>
            </a:r>
            <a:r>
              <a:rPr lang="en-US" sz="2400" dirty="0">
                <a:solidFill>
                  <a:srgbClr val="124E73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MuseoModerno Medium" pitchFamily="34" charset="-120"/>
              </a:rPr>
              <a:t>Jetson Orin NX 16GB</a:t>
            </a:r>
            <a:endParaRPr lang="en-US" sz="24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145830" y="4526085"/>
            <a:ext cx="3846685" cy="1143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ko-KR" altLang="en-US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고해상도 </a:t>
            </a: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MuseoModerno Medium" pitchFamily="34" charset="-120"/>
              </a:rPr>
              <a:t>산업용 카메라 </a:t>
            </a:r>
            <a:endParaRPr lang="en-US" altLang="ko-KR" dirty="0" smtClean="0">
              <a:solidFill>
                <a:schemeClr val="accent4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  <a:cs typeface="MuseoModerno Medium" pitchFamily="34" charset="-120"/>
            </a:endParaRPr>
          </a:p>
          <a:p>
            <a:pPr marL="285750" indent="-285750">
              <a:lnSpc>
                <a:spcPts val="2750"/>
              </a:lnSpc>
              <a:buFont typeface="Wingdings" panose="05000000000000000000" pitchFamily="2" charset="2"/>
              <a:buChar char="Ø"/>
            </a:pP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MuseoModerno Medium" pitchFamily="34" charset="-120"/>
              </a:rPr>
              <a:t>특수 조명 시스템</a:t>
            </a:r>
            <a:endParaRPr lang="en-US" altLang="ko-KR" dirty="0">
              <a:solidFill>
                <a:schemeClr val="accent4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 marL="285750" indent="-285750">
              <a:lnSpc>
                <a:spcPts val="2750"/>
              </a:lnSpc>
              <a:buFont typeface="Wingdings" panose="05000000000000000000" pitchFamily="2" charset="2"/>
              <a:buChar char="Ø"/>
            </a:pP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MuseoModerno Medium" pitchFamily="34" charset="-120"/>
              </a:rPr>
              <a:t>비전 알고리즘</a:t>
            </a:r>
            <a:endParaRPr lang="en-US" altLang="ko-KR" dirty="0">
              <a:solidFill>
                <a:schemeClr val="accent4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8" name="Text 1"/>
          <p:cNvSpPr/>
          <p:nvPr/>
        </p:nvSpPr>
        <p:spPr>
          <a:xfrm>
            <a:off x="887947" y="4088285"/>
            <a:ext cx="4558903" cy="40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solidFill>
                  <a:srgbClr val="124E73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MuseoModerno Medium" pitchFamily="34" charset="-120"/>
              </a:rPr>
              <a:t>2</a:t>
            </a:r>
            <a:r>
              <a:rPr lang="en-US" sz="2400" dirty="0" smtClean="0">
                <a:solidFill>
                  <a:srgbClr val="124E73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MuseoModerno Medium" pitchFamily="34" charset="-120"/>
              </a:rPr>
              <a:t>) </a:t>
            </a:r>
            <a:r>
              <a:rPr lang="ko-KR" altLang="en-US" sz="2400" dirty="0" smtClean="0">
                <a:solidFill>
                  <a:srgbClr val="124E73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MuseoModerno Medium" pitchFamily="34" charset="-120"/>
              </a:rPr>
              <a:t>광학 시스템 적용</a:t>
            </a:r>
            <a:endParaRPr lang="en-US" sz="24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1096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01539" y="748041"/>
            <a:ext cx="9527641" cy="445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5. </a:t>
            </a:r>
            <a:r>
              <a:rPr lang="ko-KR" altLang="en-US" sz="2800" b="1" dirty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소프트웨어 </a:t>
            </a:r>
            <a:r>
              <a:rPr lang="en-US" altLang="ko-KR" sz="2800" b="1" dirty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&amp; </a:t>
            </a:r>
            <a:r>
              <a:rPr lang="ko-KR" altLang="en-US" sz="2800" b="1" dirty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알고리즘</a:t>
            </a:r>
            <a:endParaRPr lang="en-US" altLang="ko-KR" sz="2800" b="1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endParaRPr lang="en-US" altLang="ko-KR" sz="2800" b="1" dirty="0" smtClean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endParaRPr lang="en-US" altLang="ko-KR" sz="2800" b="1" dirty="0" smtClean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 marL="342900" indent="-342900">
              <a:lnSpc>
                <a:spcPts val="33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 smtClean="0">
                <a:solidFill>
                  <a:srgbClr val="124E73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MuseoModerno Medium" pitchFamily="34" charset="-120"/>
              </a:rPr>
              <a:t>복합 </a:t>
            </a:r>
            <a:r>
              <a:rPr lang="en-US" altLang="ko-KR" sz="2000" dirty="0">
                <a:solidFill>
                  <a:srgbClr val="124E73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MuseoModerno Medium" pitchFamily="34" charset="-120"/>
              </a:rPr>
              <a:t>결함 탐지</a:t>
            </a:r>
            <a:endParaRPr lang="en-US" altLang="ko-KR" sz="20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lnSpc>
                <a:spcPts val="2850"/>
              </a:lnSpc>
            </a:pPr>
            <a:r>
              <a:rPr lang="en-US" altLang="ko-KR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      : YOLOv8/v10 </a:t>
            </a: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등 최신 딥러닝 모델 적용으로 </a:t>
            </a:r>
            <a:r>
              <a:rPr lang="en-US" altLang="ko-KR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기스</a:t>
            </a: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, 쪽 떨어짐, </a:t>
            </a:r>
            <a:endParaRPr lang="en-US" altLang="ko-KR" dirty="0" smtClean="0">
              <a:solidFill>
                <a:schemeClr val="accent4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  <a:cs typeface="Source Sans 3" pitchFamily="34" charset="-120"/>
            </a:endParaRPr>
          </a:p>
          <a:p>
            <a:pPr>
              <a:lnSpc>
                <a:spcPts val="2850"/>
              </a:lnSpc>
            </a:pP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 </a:t>
            </a:r>
            <a:r>
              <a:rPr lang="en-US" altLang="ko-KR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       접착 </a:t>
            </a: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불량 실시간 식별</a:t>
            </a:r>
            <a:endParaRPr lang="en-US" altLang="ko-KR" dirty="0">
              <a:solidFill>
                <a:schemeClr val="accent4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endParaRPr lang="en-US" altLang="ko-KR" dirty="0" smtClean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endParaRPr lang="en-US" altLang="ko-KR" dirty="0" smtClean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endParaRPr lang="en-US" altLang="ko-KR" dirty="0" smtClean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 marL="342900" indent="-342900">
              <a:lnSpc>
                <a:spcPts val="33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 smtClean="0">
                <a:solidFill>
                  <a:srgbClr val="124E73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MuseoModerno Medium" pitchFamily="34" charset="-120"/>
              </a:rPr>
              <a:t>초저지연 </a:t>
            </a:r>
            <a:r>
              <a:rPr lang="en-US" altLang="ko-KR" sz="2000" dirty="0">
                <a:solidFill>
                  <a:srgbClr val="124E73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MuseoModerno Medium" pitchFamily="34" charset="-120"/>
              </a:rPr>
              <a:t>처리</a:t>
            </a:r>
            <a:endParaRPr lang="en-US" altLang="ko-KR" sz="20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pPr>
              <a:lnSpc>
                <a:spcPts val="2850"/>
              </a:lnSpc>
            </a:pPr>
            <a:r>
              <a:rPr lang="en-US" altLang="ko-KR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      : NVIDIA </a:t>
            </a: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Source Sans 3" pitchFamily="34" charset="-120"/>
              </a:rPr>
              <a:t>TensorRT 최적화를 통한 Ultra-low latency 판정 구현</a:t>
            </a:r>
            <a:endParaRPr lang="en-US" altLang="ko-KR" dirty="0">
              <a:solidFill>
                <a:schemeClr val="accent4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endParaRPr lang="en-US" altLang="ko-KR" dirty="0" smtClean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1021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85850" y="727905"/>
            <a:ext cx="2579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6</a:t>
            </a:r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. 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개발 로드맵</a:t>
            </a:r>
            <a:endParaRPr lang="en-US" altLang="ko-KR" sz="2800" b="1" dirty="0" smtClean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1085850" y="2162175"/>
            <a:ext cx="9572626" cy="2877983"/>
            <a:chOff x="793790" y="3180636"/>
            <a:chExt cx="13042701" cy="2878721"/>
          </a:xfrm>
          <a:noFill/>
        </p:grpSpPr>
        <p:pic>
          <p:nvPicPr>
            <p:cNvPr id="21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3790" y="3856552"/>
              <a:ext cx="4196358" cy="1143000"/>
            </a:xfrm>
            <a:prstGeom prst="rect">
              <a:avLst/>
            </a:prstGeom>
            <a:grpFill/>
            <a:ln>
              <a:noFill/>
            </a:ln>
            <a:effectLst>
              <a:outerShdw blurRad="50800" dist="50800" dir="5400000" algn="ctr" rotWithShape="0">
                <a:schemeClr val="bg1">
                  <a:lumMod val="65000"/>
                  <a:lumOff val="35000"/>
                </a:schemeClr>
              </a:outerShdw>
            </a:effectLst>
          </p:spPr>
        </p:pic>
        <p:sp>
          <p:nvSpPr>
            <p:cNvPr id="22" name="Text 1"/>
            <p:cNvSpPr/>
            <p:nvPr/>
          </p:nvSpPr>
          <p:spPr>
            <a:xfrm>
              <a:off x="850702" y="4643028"/>
              <a:ext cx="2835235" cy="35433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 smtClean="0">
                  <a:solidFill>
                    <a:srgbClr val="2B4150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  <a:cs typeface="MuseoModerno Medium" pitchFamily="34" charset="-120"/>
                </a:rPr>
                <a:t>1. 데이터 </a:t>
              </a:r>
              <a:r>
                <a:rPr lang="en-US" sz="2200" dirty="0">
                  <a:solidFill>
                    <a:srgbClr val="2B4150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  <a:cs typeface="MuseoModerno Medium" pitchFamily="34" charset="-120"/>
                </a:rPr>
                <a:t>수집</a:t>
              </a:r>
              <a:endParaRPr 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endParaRPr>
            </a:p>
          </p:txBody>
        </p:sp>
        <p:sp>
          <p:nvSpPr>
            <p:cNvPr id="23" name="Text 2"/>
            <p:cNvSpPr/>
            <p:nvPr/>
          </p:nvSpPr>
          <p:spPr>
            <a:xfrm>
              <a:off x="813733" y="5008472"/>
              <a:ext cx="4399478" cy="105088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>
                <a:lnSpc>
                  <a:spcPts val="2850"/>
                </a:lnSpc>
              </a:pPr>
              <a:r>
                <a:rPr lang="en-US" sz="1750" dirty="0" smtClean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  <a:cs typeface="Source Sans 3" pitchFamily="34" charset="-120"/>
                </a:rPr>
                <a:t>: 재단 </a:t>
              </a:r>
              <a:r>
                <a:rPr lang="en-US" sz="1750" dirty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  <a:cs typeface="Source Sans 3" pitchFamily="34" charset="-120"/>
                </a:rPr>
                <a:t>공정에서 발생하는 </a:t>
              </a:r>
              <a:r>
                <a:rPr lang="en-US" sz="1750" dirty="0" smtClean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  <a:cs typeface="Source Sans 3" pitchFamily="34" charset="-120"/>
                </a:rPr>
                <a:t>다양한 </a:t>
              </a:r>
            </a:p>
            <a:p>
              <a:pPr algn="l">
                <a:lnSpc>
                  <a:spcPts val="2850"/>
                </a:lnSpc>
              </a:pPr>
              <a:r>
                <a:rPr lang="en-US" sz="1750" dirty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  <a:cs typeface="Source Sans 3" pitchFamily="34" charset="-120"/>
                </a:rPr>
                <a:t> </a:t>
              </a:r>
              <a:r>
                <a:rPr lang="en-US" sz="1750" dirty="0" smtClean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  <a:cs typeface="Source Sans 3" pitchFamily="34" charset="-120"/>
                </a:rPr>
                <a:t> </a:t>
              </a:r>
              <a:r>
                <a:rPr lang="en-US" sz="1750" dirty="0" smtClean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  <a:cs typeface="Source Sans 3" pitchFamily="34" charset="-120"/>
                </a:rPr>
                <a:t>결함 </a:t>
              </a:r>
              <a:r>
                <a:rPr lang="en-US" sz="1750" dirty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  <a:cs typeface="Source Sans 3" pitchFamily="34" charset="-120"/>
                </a:rPr>
                <a:t>이미지 및 치수 데이터 수집</a:t>
              </a:r>
              <a:endParaRPr lang="en-US" sz="1750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endParaRPr>
            </a:p>
          </p:txBody>
        </p:sp>
        <p:pic>
          <p:nvPicPr>
            <p:cNvPr id="24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6962" y="3520797"/>
              <a:ext cx="4196358" cy="1143000"/>
            </a:xfrm>
            <a:prstGeom prst="rect">
              <a:avLst/>
            </a:prstGeom>
            <a:grpFill/>
            <a:ln>
              <a:noFill/>
            </a:ln>
            <a:effectLst>
              <a:outerShdw blurRad="50800" dist="50800" dir="5400000" algn="ctr" rotWithShape="0">
                <a:schemeClr val="bg2"/>
              </a:outerShdw>
            </a:effectLst>
          </p:spPr>
        </p:pic>
        <p:sp>
          <p:nvSpPr>
            <p:cNvPr id="25" name="Text 3"/>
            <p:cNvSpPr/>
            <p:nvPr/>
          </p:nvSpPr>
          <p:spPr>
            <a:xfrm>
              <a:off x="5443776" y="4428053"/>
              <a:ext cx="2835235" cy="35433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 smtClean="0">
                  <a:solidFill>
                    <a:srgbClr val="2B4150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  <a:cs typeface="MuseoModerno Medium" pitchFamily="34" charset="-120"/>
                </a:rPr>
                <a:t>2. 모델 </a:t>
              </a:r>
              <a:r>
                <a:rPr lang="en-US" sz="2200" dirty="0">
                  <a:solidFill>
                    <a:srgbClr val="2B4150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  <a:cs typeface="MuseoModerno Medium" pitchFamily="34" charset="-120"/>
                </a:rPr>
                <a:t>최적화</a:t>
              </a:r>
              <a:endParaRPr 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endParaRPr>
            </a:p>
          </p:txBody>
        </p:sp>
        <p:sp>
          <p:nvSpPr>
            <p:cNvPr id="26" name="Text 4"/>
            <p:cNvSpPr/>
            <p:nvPr/>
          </p:nvSpPr>
          <p:spPr>
            <a:xfrm>
              <a:off x="5443776" y="4823197"/>
              <a:ext cx="3969544" cy="103464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 smtClean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  <a:cs typeface="Source Sans 3" pitchFamily="34" charset="-120"/>
                </a:rPr>
                <a:t>: Orin </a:t>
              </a:r>
              <a:r>
                <a:rPr lang="en-US" sz="1750" dirty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  <a:cs typeface="Source Sans 3" pitchFamily="34" charset="-120"/>
                </a:rPr>
                <a:t>NX 하드웨어에 최적화된 </a:t>
              </a:r>
              <a:r>
                <a:rPr lang="en-US" sz="1750" dirty="0" smtClean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  <a:cs typeface="Source Sans 3" pitchFamily="34" charset="-120"/>
                </a:rPr>
                <a:t>  </a:t>
              </a:r>
            </a:p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  <a:cs typeface="Source Sans 3" pitchFamily="34" charset="-120"/>
                </a:rPr>
                <a:t> </a:t>
              </a:r>
              <a:r>
                <a:rPr lang="en-US" sz="1750" dirty="0" smtClean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  <a:cs typeface="Source Sans 3" pitchFamily="34" charset="-120"/>
                </a:rPr>
                <a:t> </a:t>
              </a:r>
              <a:r>
                <a:rPr lang="en-US" sz="1750" dirty="0" smtClean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  <a:cs typeface="Source Sans 3" pitchFamily="34" charset="-120"/>
                </a:rPr>
                <a:t>AI </a:t>
              </a:r>
              <a:r>
                <a:rPr lang="en-US" sz="1750" dirty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  <a:cs typeface="Source Sans 3" pitchFamily="34" charset="-120"/>
                </a:rPr>
                <a:t>모델 개발 및 학습</a:t>
              </a:r>
              <a:endParaRPr lang="en-US" sz="1750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endParaRPr>
            </a:p>
          </p:txBody>
        </p:sp>
        <p:pic>
          <p:nvPicPr>
            <p:cNvPr id="27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40133" y="3180636"/>
              <a:ext cx="4196358" cy="1143000"/>
            </a:xfrm>
            <a:prstGeom prst="rect">
              <a:avLst/>
            </a:prstGeom>
            <a:grpFill/>
            <a:ln>
              <a:noFill/>
            </a:ln>
            <a:effectLst>
              <a:outerShdw blurRad="50800" dist="50800" dir="5400000" algn="ctr" rotWithShape="0">
                <a:schemeClr val="bg2"/>
              </a:outerShdw>
            </a:effectLst>
          </p:spPr>
        </p:pic>
        <p:sp>
          <p:nvSpPr>
            <p:cNvPr id="28" name="Text 5"/>
            <p:cNvSpPr/>
            <p:nvPr/>
          </p:nvSpPr>
          <p:spPr>
            <a:xfrm>
              <a:off x="9866948" y="4087892"/>
              <a:ext cx="2835235" cy="35433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 smtClean="0">
                  <a:solidFill>
                    <a:srgbClr val="2B4150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  <a:cs typeface="MuseoModerno Medium" pitchFamily="34" charset="-120"/>
                </a:rPr>
                <a:t>3. 시스템 </a:t>
              </a:r>
              <a:r>
                <a:rPr lang="en-US" sz="2200" dirty="0">
                  <a:solidFill>
                    <a:srgbClr val="2B4150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  <a:cs typeface="MuseoModerno Medium" pitchFamily="34" charset="-120"/>
                </a:rPr>
                <a:t>통합</a:t>
              </a:r>
              <a:endParaRPr lang="en-US" sz="2200" dirty="0">
                <a:latin typeface="Noto Sans KR SemiBold" panose="020B0200000000000000" pitchFamily="50" charset="-127"/>
                <a:ea typeface="Noto Sans KR SemiBold" panose="020B0200000000000000" pitchFamily="50" charset="-127"/>
              </a:endParaRPr>
            </a:p>
          </p:txBody>
        </p:sp>
        <p:sp>
          <p:nvSpPr>
            <p:cNvPr id="29" name="Text 6"/>
            <p:cNvSpPr/>
            <p:nvPr/>
          </p:nvSpPr>
          <p:spPr>
            <a:xfrm>
              <a:off x="9866950" y="4502091"/>
              <a:ext cx="3800829" cy="84738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 smtClean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  <a:cs typeface="Source Sans 3" pitchFamily="34" charset="-120"/>
                </a:rPr>
                <a:t>: 재단기 </a:t>
              </a:r>
              <a:r>
                <a:rPr lang="en-US" sz="1750" dirty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  <a:cs typeface="Source Sans 3" pitchFamily="34" charset="-120"/>
                </a:rPr>
                <a:t>인터페이스와 검사 시스템 연동 및 제어 로직 구현</a:t>
              </a:r>
              <a:endParaRPr lang="en-US" sz="1750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935771" y="3011364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~3</a:t>
            </a:r>
            <a:r>
              <a:rPr lang="ko-KR" altLang="en-US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개월 </a:t>
            </a:r>
            <a:endParaRPr lang="ko-KR" altLang="en-US" b="1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536596" y="2329402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~6</a:t>
            </a:r>
            <a:r>
              <a:rPr lang="ko-KR" altLang="en-US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개월 </a:t>
            </a:r>
            <a:endParaRPr lang="ko-KR" altLang="en-US" b="1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17146" y="2679684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~5</a:t>
            </a:r>
            <a:r>
              <a:rPr lang="ko-KR" altLang="en-US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개월 </a:t>
            </a:r>
            <a:endParaRPr lang="ko-KR" altLang="en-US" b="1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0394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46487" y="3123446"/>
            <a:ext cx="32047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감사합니다</a:t>
            </a:r>
            <a:r>
              <a:rPr lang="en-US" altLang="ko-KR" sz="4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.</a:t>
            </a:r>
            <a:endParaRPr lang="ko-KR" altLang="en-US" sz="4800" b="1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7163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슬라이스">
  <a:themeElements>
    <a:clrScheme name="다홍색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슬라이스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우윳빛 유리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6184</TotalTime>
  <Words>344</Words>
  <Application>Microsoft Office PowerPoint</Application>
  <PresentationFormat>와이드스크린</PresentationFormat>
  <Paragraphs>77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HY중고딕</vt:lpstr>
      <vt:lpstr>MuseoModerno Medium</vt:lpstr>
      <vt:lpstr>Noto Sans KR SemiBold</vt:lpstr>
      <vt:lpstr>Source Sans 3</vt:lpstr>
      <vt:lpstr>맑은 고딕</vt:lpstr>
      <vt:lpstr>Century Gothic</vt:lpstr>
      <vt:lpstr>Wingdings</vt:lpstr>
      <vt:lpstr>Wingdings 3</vt:lpstr>
      <vt:lpstr>슬라이스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JooCheol</dc:creator>
  <cp:lastModifiedBy>EasyFwGuy</cp:lastModifiedBy>
  <cp:revision>315</cp:revision>
  <dcterms:created xsi:type="dcterms:W3CDTF">2025-12-08T07:50:36Z</dcterms:created>
  <dcterms:modified xsi:type="dcterms:W3CDTF">2026-02-05T18:06:35Z</dcterms:modified>
</cp:coreProperties>
</file>